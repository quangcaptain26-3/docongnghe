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1280" r:id="rId2"/>
    <p:sldId id="1262" r:id="rId3"/>
    <p:sldId id="1296" r:id="rId4"/>
    <p:sldId id="1313" r:id="rId5"/>
    <p:sldId id="1314" r:id="rId6"/>
    <p:sldId id="1317" r:id="rId7"/>
    <p:sldId id="1318" r:id="rId8"/>
    <p:sldId id="1319" r:id="rId9"/>
    <p:sldId id="1311" r:id="rId10"/>
    <p:sldId id="1312" r:id="rId11"/>
    <p:sldId id="1281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ence Yang(楊金晶_PSZ)" initials="T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5CC"/>
    <a:srgbClr val="BA996E"/>
    <a:srgbClr val="F3F3F3"/>
    <a:srgbClr val="DAFFA3"/>
    <a:srgbClr val="1BBACB"/>
    <a:srgbClr val="347EB6"/>
    <a:srgbClr val="1AB0C0"/>
    <a:srgbClr val="1CC1D2"/>
    <a:srgbClr val="CEFF85"/>
    <a:srgbClr val="FFA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23" autoAdjust="0"/>
    <p:restoredTop sz="95090" autoAdjust="0"/>
  </p:normalViewPr>
  <p:slideViewPr>
    <p:cSldViewPr snapToGrid="0">
      <p:cViewPr varScale="1">
        <p:scale>
          <a:sx n="87" d="100"/>
          <a:sy n="87" d="100"/>
        </p:scale>
        <p:origin x="35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A681D-2D26-4E30-9E7A-12BA2F7971AE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A5AFE-8970-4B57-B423-C596FB58AC0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C0C0C-18E8-48AF-8451-7EA05F209860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Brush/>
                      </a14:imgEffect>
                      <a14:imgEffect>
                        <a14:brightnessContrast contrast="3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手繪多邊形: 圖案 4"/>
          <p:cNvSpPr/>
          <p:nvPr/>
        </p:nvSpPr>
        <p:spPr>
          <a:xfrm>
            <a:off x="5262880" y="0"/>
            <a:ext cx="6929120" cy="6858000"/>
          </a:xfrm>
          <a:custGeom>
            <a:avLst/>
            <a:gdLst>
              <a:gd name="connsiteX0" fmla="*/ 1099083 w 6878773"/>
              <a:gd name="connsiteY0" fmla="*/ 0 h 6858000"/>
              <a:gd name="connsiteX1" fmla="*/ 1288272 w 6878773"/>
              <a:gd name="connsiteY1" fmla="*/ 0 h 6858000"/>
              <a:gd name="connsiteX2" fmla="*/ 1071041 w 6878773"/>
              <a:gd name="connsiteY2" fmla="*/ 392191 h 6858000"/>
              <a:gd name="connsiteX3" fmla="*/ 689136 w 6878773"/>
              <a:gd name="connsiteY3" fmla="*/ 1280816 h 6858000"/>
              <a:gd name="connsiteX4" fmla="*/ 616541 w 6878773"/>
              <a:gd name="connsiteY4" fmla="*/ 1508694 h 6858000"/>
              <a:gd name="connsiteX5" fmla="*/ 614559 w 6878773"/>
              <a:gd name="connsiteY5" fmla="*/ 1514104 h 6858000"/>
              <a:gd name="connsiteX6" fmla="*/ 607149 w 6878773"/>
              <a:gd name="connsiteY6" fmla="*/ 1538176 h 6858000"/>
              <a:gd name="connsiteX7" fmla="*/ 539073 w 6878773"/>
              <a:gd name="connsiteY7" fmla="*/ 1751870 h 6858000"/>
              <a:gd name="connsiteX8" fmla="*/ 526405 w 6878773"/>
              <a:gd name="connsiteY8" fmla="*/ 1800496 h 6858000"/>
              <a:gd name="connsiteX9" fmla="*/ 607149 w 6878773"/>
              <a:gd name="connsiteY9" fmla="*/ 1538176 h 6858000"/>
              <a:gd name="connsiteX10" fmla="*/ 616541 w 6878773"/>
              <a:gd name="connsiteY10" fmla="*/ 1508694 h 6858000"/>
              <a:gd name="connsiteX11" fmla="*/ 768299 w 6878773"/>
              <a:gd name="connsiteY11" fmla="*/ 1094548 h 6858000"/>
              <a:gd name="connsiteX12" fmla="*/ 1145606 w 6878773"/>
              <a:gd name="connsiteY12" fmla="*/ 304655 h 6858000"/>
              <a:gd name="connsiteX13" fmla="*/ 1329241 w 6878773"/>
              <a:gd name="connsiteY13" fmla="*/ 0 h 6858000"/>
              <a:gd name="connsiteX14" fmla="*/ 6878773 w 6878773"/>
              <a:gd name="connsiteY14" fmla="*/ 0 h 6858000"/>
              <a:gd name="connsiteX15" fmla="*/ 6878773 w 6878773"/>
              <a:gd name="connsiteY15" fmla="*/ 6858000 h 6858000"/>
              <a:gd name="connsiteX16" fmla="*/ 796590 w 6878773"/>
              <a:gd name="connsiteY16" fmla="*/ 6858000 h 6858000"/>
              <a:gd name="connsiteX17" fmla="*/ 705664 w 6878773"/>
              <a:gd name="connsiteY17" fmla="*/ 6624805 h 6858000"/>
              <a:gd name="connsiteX18" fmla="*/ 276668 w 6878773"/>
              <a:gd name="connsiteY18" fmla="*/ 4763158 h 6858000"/>
              <a:gd name="connsiteX19" fmla="*/ 251068 w 6878773"/>
              <a:gd name="connsiteY19" fmla="*/ 4457271 h 6858000"/>
              <a:gd name="connsiteX20" fmla="*/ 252518 w 6878773"/>
              <a:gd name="connsiteY20" fmla="*/ 4492334 h 6858000"/>
              <a:gd name="connsiteX21" fmla="*/ 642791 w 6878773"/>
              <a:gd name="connsiteY21" fmla="*/ 6547897 h 6858000"/>
              <a:gd name="connsiteX22" fmla="*/ 751455 w 6878773"/>
              <a:gd name="connsiteY22" fmla="*/ 6858000 h 6858000"/>
              <a:gd name="connsiteX23" fmla="*/ 568815 w 6878773"/>
              <a:gd name="connsiteY23" fmla="*/ 6858000 h 6858000"/>
              <a:gd name="connsiteX24" fmla="*/ 520545 w 6878773"/>
              <a:gd name="connsiteY24" fmla="*/ 6743200 h 6858000"/>
              <a:gd name="connsiteX25" fmla="*/ 0 w 6878773"/>
              <a:gd name="connsiteY25" fmla="*/ 3931920 h 6858000"/>
              <a:gd name="connsiteX26" fmla="*/ 984860 w 6878773"/>
              <a:gd name="connsiteY26" fmla="*/ 1803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878773" h="6858000">
                <a:moveTo>
                  <a:pt x="1099083" y="0"/>
                </a:moveTo>
                <a:lnTo>
                  <a:pt x="1288272" y="0"/>
                </a:lnTo>
                <a:lnTo>
                  <a:pt x="1071041" y="392191"/>
                </a:lnTo>
                <a:cubicBezTo>
                  <a:pt x="926325" y="675478"/>
                  <a:pt x="798518" y="972377"/>
                  <a:pt x="689136" y="1280816"/>
                </a:cubicBezTo>
                <a:lnTo>
                  <a:pt x="616541" y="1508694"/>
                </a:lnTo>
                <a:lnTo>
                  <a:pt x="614559" y="1514104"/>
                </a:lnTo>
                <a:lnTo>
                  <a:pt x="607149" y="1538176"/>
                </a:lnTo>
                <a:lnTo>
                  <a:pt x="539073" y="1751870"/>
                </a:lnTo>
                <a:lnTo>
                  <a:pt x="526405" y="1800496"/>
                </a:lnTo>
                <a:lnTo>
                  <a:pt x="607149" y="1538176"/>
                </a:lnTo>
                <a:lnTo>
                  <a:pt x="616541" y="1508694"/>
                </a:lnTo>
                <a:lnTo>
                  <a:pt x="768299" y="1094548"/>
                </a:lnTo>
                <a:cubicBezTo>
                  <a:pt x="878763" y="820024"/>
                  <a:pt x="1004957" y="556147"/>
                  <a:pt x="1145606" y="304655"/>
                </a:cubicBezTo>
                <a:lnTo>
                  <a:pt x="1329241" y="0"/>
                </a:lnTo>
                <a:lnTo>
                  <a:pt x="6878773" y="0"/>
                </a:lnTo>
                <a:lnTo>
                  <a:pt x="6878773" y="6858000"/>
                </a:lnTo>
                <a:lnTo>
                  <a:pt x="796590" y="6858000"/>
                </a:lnTo>
                <a:lnTo>
                  <a:pt x="705664" y="6624805"/>
                </a:lnTo>
                <a:cubicBezTo>
                  <a:pt x="492576" y="6043076"/>
                  <a:pt x="345499" y="5418219"/>
                  <a:pt x="276668" y="4763158"/>
                </a:cubicBezTo>
                <a:lnTo>
                  <a:pt x="251068" y="4457271"/>
                </a:lnTo>
                <a:lnTo>
                  <a:pt x="252518" y="4492334"/>
                </a:lnTo>
                <a:cubicBezTo>
                  <a:pt x="297587" y="5213820"/>
                  <a:pt x="432380" y="5903988"/>
                  <a:pt x="642791" y="6547897"/>
                </a:cubicBezTo>
                <a:lnTo>
                  <a:pt x="751455" y="6858000"/>
                </a:lnTo>
                <a:lnTo>
                  <a:pt x="568815" y="6858000"/>
                </a:lnTo>
                <a:lnTo>
                  <a:pt x="520545" y="6743200"/>
                </a:lnTo>
                <a:cubicBezTo>
                  <a:pt x="188569" y="5907510"/>
                  <a:pt x="0" y="4949829"/>
                  <a:pt x="0" y="3931920"/>
                </a:cubicBezTo>
                <a:cubicBezTo>
                  <a:pt x="0" y="2506847"/>
                  <a:pt x="369597" y="1199822"/>
                  <a:pt x="984860" y="180321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grpSp>
        <p:nvGrpSpPr>
          <p:cNvPr id="2" name="群組 1"/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3" name="Oval 21"/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15" name="文字方塊 14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en-GB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B2CDC77-8F79-FB60-ED20-78B18BF125ED}"/>
              </a:ext>
            </a:extLst>
          </p:cNvPr>
          <p:cNvSpPr txBox="1"/>
          <p:nvPr/>
        </p:nvSpPr>
        <p:spPr>
          <a:xfrm>
            <a:off x="321934" y="4841728"/>
            <a:ext cx="8302787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3600" b="1" dirty="0" smtClean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2026 </a:t>
            </a:r>
            <a:r>
              <a:rPr lang="en-US" altLang="zh-TW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PVN FME </a:t>
            </a:r>
            <a:r>
              <a:rPr lang="en-US" altLang="zh-TW" sz="3600" b="1" dirty="0" smtClean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Q1</a:t>
            </a:r>
            <a:r>
              <a:rPr lang="zh-TW" altLang="en-US" sz="3600" b="1" dirty="0" smtClean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工</a:t>
            </a:r>
            <a:r>
              <a:rPr lang="zh-TW" altLang="en-US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作報告</a:t>
            </a:r>
            <a:endParaRPr lang="en-US" altLang="zh-TW" sz="3600" b="1" dirty="0">
              <a:solidFill>
                <a:srgbClr val="002060"/>
              </a:solidFill>
              <a:effectLst>
                <a:outerShdw blurRad="50800" dist="38100" dir="10800000" algn="r" rotWithShape="0">
                  <a:schemeClr val="bg1">
                    <a:lumMod val="85000"/>
                    <a:alpha val="7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部門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(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PVN)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第六事業群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製造及營運管理中心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越南製造處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-PVN1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廠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-FME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部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自動化課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姓名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en-GB" sz="1600" b="1" dirty="0" err="1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  <a:sym typeface="+mn-ea"/>
              </a:rPr>
              <a:t>Leon</a:t>
            </a:r>
            <a:r>
              <a:rPr lang="en-US" altLang="zh-TW" sz="1600" b="1" dirty="0" err="1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  <a:sym typeface="+mn-ea"/>
              </a:rPr>
              <a:t>_</a:t>
            </a:r>
            <a:r>
              <a:rPr lang="en-US" altLang="en-GB" sz="1600" b="1" dirty="0" err="1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  <a:sym typeface="+mn-ea"/>
              </a:rPr>
              <a:t>Than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  <a:sym typeface="+mn-ea"/>
              </a:rPr>
              <a:t> 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  <a:sym typeface="+mn-ea"/>
              </a:rPr>
              <a:t>申玉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  <a:sym typeface="+mn-ea"/>
              </a:rPr>
              <a:t>龍</a:t>
            </a:r>
            <a:endParaRPr lang="en-US" altLang="zh-TW" sz="1600" b="1" dirty="0" smtClean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職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等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19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	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</a:endParaRPr>
          </a:p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日期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2026/03/18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112B3D19-5153-353B-424F-8F0D7993982B}"/>
              </a:ext>
            </a:extLst>
          </p:cNvPr>
          <p:cNvGrpSpPr/>
          <p:nvPr/>
        </p:nvGrpSpPr>
        <p:grpSpPr>
          <a:xfrm>
            <a:off x="494654" y="4117202"/>
            <a:ext cx="3293433" cy="637493"/>
            <a:chOff x="637703" y="2936783"/>
            <a:chExt cx="3293433" cy="637493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AD0040CB-21DA-C482-2A41-8A79356C4023}"/>
                </a:ext>
              </a:extLst>
            </p:cNvPr>
            <p:cNvPicPr/>
            <p:nvPr/>
          </p:nvPicPr>
          <p:blipFill>
            <a:blip r:embed="rId5">
              <a:lum bright="-20001"/>
            </a:blip>
            <a:stretch>
              <a:fillRect/>
            </a:stretch>
          </p:blipFill>
          <p:spPr>
            <a:xfrm>
              <a:off x="637703" y="3020610"/>
              <a:ext cx="2063612" cy="55366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14C72E3B-8C67-EB76-D350-68FD31CC333A}"/>
                </a:ext>
              </a:extLst>
            </p:cNvPr>
            <p:cNvGrpSpPr/>
            <p:nvPr/>
          </p:nvGrpSpPr>
          <p:grpSpPr>
            <a:xfrm>
              <a:off x="2892449" y="2936783"/>
              <a:ext cx="1038687" cy="588751"/>
              <a:chOff x="1782913" y="2529000"/>
              <a:chExt cx="3121573" cy="1800000"/>
            </a:xfrm>
          </p:grpSpPr>
          <p:sp>
            <p:nvSpPr>
              <p:cNvPr id="37" name="圆角矩形 15">
                <a:extLst>
                  <a:ext uri="{FF2B5EF4-FFF2-40B4-BE49-F238E27FC236}">
                    <a16:creationId xmlns:a16="http://schemas.microsoft.com/office/drawing/2014/main" id="{A8AF72AA-3B3A-5ACD-D50E-22A378408615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0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圆角矩形 16">
                <a:extLst>
                  <a:ext uri="{FF2B5EF4-FFF2-40B4-BE49-F238E27FC236}">
                    <a16:creationId xmlns:a16="http://schemas.microsoft.com/office/drawing/2014/main" id="{D74BAA0C-C50E-20F8-BE6E-E171E1D937C4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39" name="圖片 38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6E8EBEE9-EBC9-8914-6C1F-E45E1570D000}"/>
                  </a:ext>
                </a:extLst>
              </p:cNvPr>
              <p:cNvPicPr/>
              <p:nvPr/>
            </p:nvPicPr>
            <p:blipFill rotWithShape="1">
              <a:blip r:embed="rId6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6" y="2875160"/>
                <a:ext cx="1281679" cy="1107680"/>
              </a:xfrm>
              <a:prstGeom prst="rect">
                <a:avLst/>
              </a:prstGeom>
            </p:spPr>
          </p:pic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8390711-3383-6DA3-F533-8A28FE5DF6F8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54311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2026 - Q1</a:t>
              </a:r>
              <a:r>
                <a:rPr lang="en-US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 </a:t>
              </a:r>
              <a:r>
                <a:rPr lang="en-US" altLang="zh-TW" sz="2800" dirty="0">
                  <a:solidFill>
                    <a:schemeClr val="bg1">
                      <a:lumMod val="95000"/>
                    </a:schemeClr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Work Results</a:t>
              </a:r>
              <a:endParaRPr lang="en-US" altLang="zh-TW" sz="2800" dirty="0">
                <a:solidFill>
                  <a:schemeClr val="bg1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endParaRPr>
            </a:p>
          </p:txBody>
        </p:sp>
      </p:grp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066936"/>
              </p:ext>
            </p:extLst>
          </p:nvPr>
        </p:nvGraphicFramePr>
        <p:xfrm>
          <a:off x="616856" y="1079788"/>
          <a:ext cx="11077303" cy="52057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7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039">
                <a:tc>
                  <a:txBody>
                    <a:bodyPr/>
                    <a:lstStyle/>
                    <a:p>
                      <a:pPr algn="ctr"/>
                      <a:r>
                        <a:rPr lang="vi-VN" altLang="en-GB" sz="1800" dirty="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GB" altLang="en-US" sz="1800" dirty="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ime</a:t>
                      </a: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en-US" sz="1800" dirty="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Work Results</a:t>
                      </a: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728">
                <a:tc rowSpan="4">
                  <a:txBody>
                    <a:bodyPr/>
                    <a:lstStyle/>
                    <a:p>
                      <a:pPr algn="ctr"/>
                      <a:r>
                        <a:rPr lang="vi-VN" altLang="zh-TW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  <a:r>
                        <a:rPr lang="en-GB" alt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altLang="zh-TW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altLang="zh-TW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Continue c</a:t>
                      </a:r>
                      <a:r>
                        <a:rPr lang="en-US" altLang="zh-TW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omplete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unfinished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AOI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rojects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F5-4F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Q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3-2025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2.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new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AOI External projects at F5-4F. Improve missing component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issue.</a:t>
                      </a: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Add new </a:t>
                      </a: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function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, optimize working time</a:t>
                      </a: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for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</a:t>
                      </a: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all AOI</a:t>
                      </a:r>
                      <a:r>
                        <a:rPr lang="vi-VN" altLang="zh-TW" sz="1400" baseline="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External </a:t>
                      </a: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+mn-lt"/>
                          <a:cs typeface="Arial" panose="020B0604020202020204" pitchFamily="34" charset="0"/>
                          <a:sym typeface="+mn-ea"/>
                        </a:rPr>
                        <a:t>stations</a:t>
                      </a:r>
                      <a:r>
                        <a:rPr lang="vi-VN" altLang="zh-TW" sz="1400" baseline="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at F5-4F.</a:t>
                      </a:r>
                      <a:endParaRPr lang="en-US" altLang="zh-TW" sz="1400" dirty="0" smtClean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Setup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build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up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program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AOI External stations at F5-5F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vi-VN" altLang="zh-TW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728">
                <a:tc rowSpan="5">
                  <a:txBody>
                    <a:bodyPr/>
                    <a:lstStyle/>
                    <a:p>
                      <a:pPr algn="ctr"/>
                      <a:r>
                        <a:rPr lang="en-GB" altLang="zh-TW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GB" alt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altLang="zh-TW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altLang="zh-TW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new </a:t>
                      </a: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function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prevent OP make incorrect actions and arrange products not according to SOP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Station K10-AOI Carton Machine of 4K-Panasonic</a:t>
                      </a:r>
                      <a:endParaRPr lang="en-US" altLang="zh-TW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 and testing new program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the AOI Carton for Yamaha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series in line 4K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 up and testing new program for the AOI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Giftbox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Yamaha series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line 4K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vi-VN" altLang="zh-TW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7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 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 and organize human resources of Software and Vision </a:t>
                      </a:r>
                      <a:r>
                        <a:rPr lang="vi-V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Team. 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Ensure production and customer requirements. Meet automation needs.</a:t>
                      </a:r>
                      <a:endParaRPr lang="vi-VN" altLang="zh-TW"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188">
                <a:tc vMerge="1">
                  <a:txBody>
                    <a:bodyPr/>
                    <a:lstStyle/>
                    <a:p>
                      <a:pPr algn="ctr"/>
                      <a:endParaRPr lang="en-GB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 Continue perform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plans and goals for the F5-5F AOI External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Station.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578312"/>
                  </a:ext>
                </a:extLst>
              </a:tr>
            </a:tbl>
          </a:graphicData>
        </a:graphic>
      </p:graphicFrame>
      <p:grpSp>
        <p:nvGrpSpPr>
          <p:cNvPr id="3" name="群組 2"/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/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群組 5"/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FME</a:t>
                </a:r>
              </a:p>
            </p:txBody>
          </p:sp>
          <p:sp>
            <p:nvSpPr>
              <p:cNvPr id="8" name="文字方塊 7"/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en-GB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Continue c</a:t>
            </a:r>
            <a:r>
              <a:rPr lang="en-US" altLang="zh-TW" dirty="0" err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omplete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unfinished AOI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Projects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at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F5-4F of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Q3 - 2025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zh-TW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Text Box 9"/>
          <p:cNvSpPr txBox="1"/>
          <p:nvPr/>
        </p:nvSpPr>
        <p:spPr>
          <a:xfrm>
            <a:off x="195263" y="1562866"/>
            <a:ext cx="5504688" cy="5107781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Project : </a:t>
            </a: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Star ( 4J Line )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Nanook </a:t>
            </a: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( 4J Line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)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Revlon 1/3 ( 4D Line )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Revlon 2/4 ( 4E Line )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Panasonic ( 4K Line )</a:t>
            </a: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Carton ( 4K Line )</a:t>
            </a: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Giftbox ( 4K Line )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Progress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Complete </a:t>
            </a: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1/3 model of AOI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External Star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Complete 4/9 model of AOI External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Nanook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100% completion with AOI External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Revlon 1/3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100% </a:t>
            </a: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completion with AOI External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Revlon 2/4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Completed 6/13 – Verify 6/13 </a:t>
            </a: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of AOI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External Panasonic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100% completion with AOI Carton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Complete 10/13 model of AOI Giftbox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Quanlity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Ensured defect detection accuracy and stable inspection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results.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757" y="2701194"/>
            <a:ext cx="5772981" cy="2831123"/>
          </a:xfrm>
          <a:prstGeom prst="rect">
            <a:avLst/>
          </a:prstGeom>
        </p:spPr>
      </p:pic>
      <p:sp>
        <p:nvSpPr>
          <p:cNvPr id="13" name="AutoShape 18"/>
          <p:cNvSpPr/>
          <p:nvPr/>
        </p:nvSpPr>
        <p:spPr>
          <a:xfrm rot="5400000">
            <a:off x="3501216" y="4094590"/>
            <a:ext cx="4976872" cy="17937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9"/>
          <p:cNvSpPr txBox="1"/>
          <p:nvPr/>
        </p:nvSpPr>
        <p:spPr>
          <a:xfrm>
            <a:off x="6276773" y="1549667"/>
            <a:ext cx="5507269" cy="5107781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vi-VN" altLang="zh-TW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2.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Complete new AOI External projects at F5-4F. Improve missing component issue.</a:t>
            </a:r>
            <a:endParaRPr lang="vi-VN" altLang="zh-TW" dirty="0">
              <a:cs typeface="Arial" panose="020B0604020202020204" pitchFamily="34" charset="0"/>
            </a:endParaRPr>
          </a:p>
        </p:txBody>
      </p:sp>
      <p:sp>
        <p:nvSpPr>
          <p:cNvPr id="52" name="Text Box 9"/>
          <p:cNvSpPr txBox="1"/>
          <p:nvPr/>
        </p:nvSpPr>
        <p:spPr>
          <a:xfrm>
            <a:off x="195262" y="1562866"/>
            <a:ext cx="5507269" cy="5107781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Project : </a:t>
            </a: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R30 ( 4N Line )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CCX350 ( 4P Line )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CCX400 ( 4P Line )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Progress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100% completion with AOI External</a:t>
            </a:r>
            <a:r>
              <a:rPr lang="en-US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R30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100% completion with AOI External</a:t>
            </a:r>
            <a:r>
              <a:rPr lang="en-US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CCX350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100% completion with AOI External</a:t>
            </a:r>
            <a:r>
              <a:rPr lang="en-US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CCX400</a:t>
            </a:r>
            <a:endParaRPr lang="vi-VN" altLang="vi-VN" sz="1400" dirty="0">
              <a:solidFill>
                <a:schemeClr val="tx1"/>
              </a:solidFill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Quanlity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Total: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14</a:t>
            </a: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models across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3</a:t>
            </a: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projects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Completed: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100%</a:t>
            </a: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Outcome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Improved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detection of missing components across all AOI External project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Enhanced product quality and reduce false detection.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AutoShape 18"/>
          <p:cNvSpPr/>
          <p:nvPr/>
        </p:nvSpPr>
        <p:spPr>
          <a:xfrm rot="5400000">
            <a:off x="3501216" y="4094590"/>
            <a:ext cx="4976872" cy="17937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863" y="1828799"/>
            <a:ext cx="2378498" cy="14859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361" y="3314700"/>
            <a:ext cx="2378498" cy="14777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863" y="4792475"/>
            <a:ext cx="2378498" cy="1484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Rounded Rectangular Callout 7"/>
          <p:cNvSpPr/>
          <p:nvPr/>
        </p:nvSpPr>
        <p:spPr>
          <a:xfrm>
            <a:off x="9791439" y="2227396"/>
            <a:ext cx="1152525" cy="409575"/>
          </a:xfrm>
          <a:prstGeom prst="wedgeRoundRectCallout">
            <a:avLst>
              <a:gd name="adj1" fmla="val -115874"/>
              <a:gd name="adj2" fmla="val 5087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1400" dirty="0" smtClean="0">
                <a:solidFill>
                  <a:sysClr val="windowText" lastClr="000000"/>
                </a:solidFill>
                <a:ea typeface="Microsoft JhengHei" panose="020B0604030504040204" pitchFamily="34" charset="-120"/>
              </a:rPr>
              <a:t>R30</a:t>
            </a:r>
            <a:endParaRPr lang="en-US" sz="1400" dirty="0">
              <a:solidFill>
                <a:sysClr val="windowText" lastClr="00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1" name="Rounded Rectangular Callout 20"/>
          <p:cNvSpPr/>
          <p:nvPr/>
        </p:nvSpPr>
        <p:spPr>
          <a:xfrm>
            <a:off x="6928504" y="3707181"/>
            <a:ext cx="1152525" cy="409575"/>
          </a:xfrm>
          <a:prstGeom prst="wedgeRoundRectCallout">
            <a:avLst>
              <a:gd name="adj1" fmla="val 118010"/>
              <a:gd name="adj2" fmla="val 4622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1400" dirty="0" smtClean="0">
                <a:solidFill>
                  <a:sysClr val="windowText" lastClr="000000"/>
                </a:solidFill>
                <a:ea typeface="Microsoft JhengHei" panose="020B0604030504040204" pitchFamily="34" charset="-120"/>
              </a:rPr>
              <a:t>CCX350</a:t>
            </a:r>
            <a:endParaRPr lang="en-US" sz="1400" dirty="0">
              <a:solidFill>
                <a:sysClr val="windowText" lastClr="00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2" name="Rounded Rectangular Callout 21"/>
          <p:cNvSpPr/>
          <p:nvPr/>
        </p:nvSpPr>
        <p:spPr>
          <a:xfrm>
            <a:off x="9909829" y="5265415"/>
            <a:ext cx="1152525" cy="409575"/>
          </a:xfrm>
          <a:prstGeom prst="wedgeRoundRectCallout">
            <a:avLst>
              <a:gd name="adj1" fmla="val -124965"/>
              <a:gd name="adj2" fmla="val 5784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1400" dirty="0" smtClean="0">
                <a:solidFill>
                  <a:sysClr val="windowText" lastClr="000000"/>
                </a:solidFill>
                <a:ea typeface="Microsoft JhengHei" panose="020B0604030504040204" pitchFamily="34" charset="-120"/>
              </a:rPr>
              <a:t>CCX400</a:t>
            </a:r>
            <a:endParaRPr lang="en-US" sz="1400" dirty="0">
              <a:solidFill>
                <a:sysClr val="windowText" lastClr="00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270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220393" y="1420645"/>
            <a:ext cx="6788406" cy="510778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 Add new function, optimize working time for all AOI External stations at F5-4F.</a:t>
            </a:r>
          </a:p>
        </p:txBody>
      </p:sp>
      <p:sp>
        <p:nvSpPr>
          <p:cNvPr id="15" name="AutoShape 18"/>
          <p:cNvSpPr/>
          <p:nvPr/>
        </p:nvSpPr>
        <p:spPr>
          <a:xfrm rot="5400000">
            <a:off x="2242198" y="4063921"/>
            <a:ext cx="5325482" cy="7274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lowchart: Alternate Process 35"/>
          <p:cNvSpPr/>
          <p:nvPr/>
        </p:nvSpPr>
        <p:spPr>
          <a:xfrm>
            <a:off x="195262" y="1466651"/>
            <a:ext cx="4396926" cy="502852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14"/>
          <p:cNvSpPr txBox="1"/>
          <p:nvPr/>
        </p:nvSpPr>
        <p:spPr>
          <a:xfrm>
            <a:off x="5586041" y="1969503"/>
            <a:ext cx="642275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During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production: The operator (OP) cannot know which </a:t>
            </a:r>
            <a:r>
              <a:rPr lang="vi-VN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product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is at the station, leading to the need for multiple </a:t>
            </a:r>
            <a:r>
              <a:rPr lang="vi-VN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appearance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 </a:t>
            </a: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inspections</a:t>
            </a:r>
            <a:r>
              <a:rPr lang="en-US" altLang="zh-CN" sz="1200" dirty="0" smtClean="0">
                <a:latin typeface="Arial" charset="0"/>
                <a:ea typeface="DengXian" panose="02010600030101010101" pitchFamily="2" charset="-122"/>
                <a:sym typeface="+mn-ea"/>
              </a:rPr>
              <a:t>.</a:t>
            </a:r>
            <a:endParaRPr lang="vi-VN" altLang="zh-CN" sz="1200" dirty="0" smtClean="0">
              <a:latin typeface="Arial" charset="0"/>
              <a:ea typeface="DengXian" panose="02010600030101010101" pitchFamily="2" charset="-122"/>
              <a:sym typeface="+mn-ea"/>
            </a:endParaRPr>
          </a:p>
        </p:txBody>
      </p:sp>
      <p:sp>
        <p:nvSpPr>
          <p:cNvPr id="39" name="TextBox 14"/>
          <p:cNvSpPr txBox="1"/>
          <p:nvPr/>
        </p:nvSpPr>
        <p:spPr>
          <a:xfrm>
            <a:off x="5553482" y="2660254"/>
            <a:ext cx="642339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Program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Add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more function to check the status of product =&gt; Make sure all units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are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correct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in their 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station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</a:t>
            </a:r>
            <a:endParaRPr lang="vi-VN" sz="1200" dirty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When </a:t>
            </a:r>
            <a:r>
              <a:rPr lang="vi-VN" altLang="en-US" sz="1200" dirty="0">
                <a:sym typeface="+mn-ea"/>
              </a:rPr>
              <a:t>the unit without the correct </a:t>
            </a:r>
            <a:r>
              <a:rPr lang="vi-VN" altLang="en-US" sz="1200" dirty="0" smtClean="0">
                <a:sym typeface="+mn-ea"/>
              </a:rPr>
              <a:t>station </a:t>
            </a: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=&gt; Display a warning screen in the program.</a:t>
            </a:r>
            <a:endParaRPr lang="en-US" sz="12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0" name="TextBox 13"/>
          <p:cNvSpPr txBox="1"/>
          <p:nvPr/>
        </p:nvSpPr>
        <p:spPr>
          <a:xfrm>
            <a:off x="5553482" y="5397311"/>
            <a:ext cx="4802007" cy="24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After Improve</a:t>
            </a:r>
          </a:p>
        </p:txBody>
      </p:sp>
      <p:sp>
        <p:nvSpPr>
          <p:cNvPr id="41" name="TextBox 13"/>
          <p:cNvSpPr txBox="1"/>
          <p:nvPr/>
        </p:nvSpPr>
        <p:spPr>
          <a:xfrm>
            <a:off x="5553482" y="1694712"/>
            <a:ext cx="4830581" cy="24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Before Improve</a:t>
            </a:r>
          </a:p>
        </p:txBody>
      </p:sp>
      <p:sp>
        <p:nvSpPr>
          <p:cNvPr id="42" name="TextBox 15"/>
          <p:cNvSpPr txBox="1"/>
          <p:nvPr/>
        </p:nvSpPr>
        <p:spPr>
          <a:xfrm>
            <a:off x="5553482" y="2388209"/>
            <a:ext cx="4812513" cy="24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Details Improve</a:t>
            </a:r>
          </a:p>
        </p:txBody>
      </p:sp>
      <p:sp>
        <p:nvSpPr>
          <p:cNvPr id="47" name="TextBox 14"/>
          <p:cNvSpPr txBox="1"/>
          <p:nvPr/>
        </p:nvSpPr>
        <p:spPr>
          <a:xfrm>
            <a:off x="5553482" y="5708727"/>
            <a:ext cx="642339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The number of </a:t>
            </a:r>
            <a:r>
              <a:rPr lang="vi-VN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appearance</a:t>
            </a:r>
            <a:r>
              <a:rPr lang="en-US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</a:t>
            </a: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inspections has </a:t>
            </a:r>
            <a:r>
              <a:rPr lang="vi-VN" sz="1200" dirty="0" smtClean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decreased. </a:t>
            </a:r>
            <a:r>
              <a:rPr lang="vi-VN" sz="1200" dirty="0">
                <a:sym typeface="+mn-ea"/>
              </a:rPr>
              <a:t>Optimize time for </a:t>
            </a:r>
            <a:r>
              <a:rPr lang="vi-VN" sz="1200" dirty="0" smtClean="0">
                <a:sym typeface="+mn-ea"/>
              </a:rPr>
              <a:t>PD</a:t>
            </a:r>
            <a:endParaRPr lang="vi-VN" sz="1200" dirty="0" smtClean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Make sure all units without the correct station will be re-checked at that correct station</a:t>
            </a:r>
            <a:endParaRPr lang="en-US" sz="120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3" name="圆角矩形 5"/>
          <p:cNvSpPr/>
          <p:nvPr/>
        </p:nvSpPr>
        <p:spPr>
          <a:xfrm>
            <a:off x="1270841" y="3833048"/>
            <a:ext cx="2214245" cy="270510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Station AOI </a:t>
            </a:r>
            <a:r>
              <a:rPr lang="en-US" altLang="zh-CN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before </a:t>
            </a:r>
            <a:r>
              <a:rPr lang="en-US" altLang="zh-CN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54" name="圆角矩形 5"/>
          <p:cNvSpPr/>
          <p:nvPr/>
        </p:nvSpPr>
        <p:spPr>
          <a:xfrm>
            <a:off x="1286602" y="5621247"/>
            <a:ext cx="2214245" cy="270510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200" dirty="0">
                <a:solidFill>
                  <a:sysClr val="windowText" lastClr="000000"/>
                </a:solidFill>
                <a:ea typeface="SimSun" pitchFamily="2" charset="-122"/>
                <a:cs typeface="Arial" panose="020B0604020202020204" pitchFamily="34" charset="0"/>
                <a:sym typeface="+mn-ea"/>
              </a:rPr>
              <a:t>Station </a:t>
            </a:r>
            <a:r>
              <a:rPr lang="vi-VN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Arial" panose="020B0604020202020204" pitchFamily="34" charset="0"/>
                <a:sym typeface="+mn-ea"/>
              </a:rPr>
              <a:t>AOI after</a:t>
            </a:r>
            <a:r>
              <a:rPr lang="en-US" altLang="zh-CN" sz="120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sysClr val="windowText" lastClr="000000"/>
                </a:solidFill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</a:rPr>
              <a:t>improve</a:t>
            </a:r>
          </a:p>
        </p:txBody>
      </p:sp>
      <p:sp>
        <p:nvSpPr>
          <p:cNvPr id="55" name="文本框 73"/>
          <p:cNvSpPr txBox="1"/>
          <p:nvPr/>
        </p:nvSpPr>
        <p:spPr>
          <a:xfrm>
            <a:off x="170469" y="1502601"/>
            <a:ext cx="4421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Location</a:t>
            </a:r>
            <a:r>
              <a:rPr lang="en-US" altLang="zh-CN" sz="1200" i="1" dirty="0" smtClean="0"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:</a:t>
            </a:r>
            <a:r>
              <a:rPr lang="vi-VN" altLang="en-US" sz="1200" i="1" dirty="0" smtClean="0"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 sz="1200" i="1" dirty="0" smtClean="0">
                <a:latin typeface="Arial" panose="020B0604020202020204" pitchFamily="34" charset="0"/>
                <a:ea typeface="SimSun" pitchFamily="2" charset="-122"/>
                <a:cs typeface="Arial" panose="020B0604020202020204" pitchFamily="34" charset="0"/>
                <a:sym typeface="+mn-ea"/>
              </a:rPr>
              <a:t>Station AOI F5 – 4F</a:t>
            </a:r>
            <a:endParaRPr lang="en-US" sz="1200" i="1" dirty="0"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  <a:sym typeface="+mn-ea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200" i="1" dirty="0" smtClean="0"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  <a:sym typeface="+mn-ea"/>
              </a:rPr>
              <a:t>Improvement: </a:t>
            </a: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Improve </a:t>
            </a:r>
            <a:r>
              <a:rPr lang="vi-VN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station AOI</a:t>
            </a:r>
            <a:endParaRPr lang="vi-VN" altLang="vi-VN" sz="1200" i="1" dirty="0" smtClean="0">
              <a:latin typeface="Arial" panose="020B0604020202020204" pitchFamily="34" charset="0"/>
              <a:ea typeface="SimSun" pitchFamily="2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395" y="3530987"/>
            <a:ext cx="3070227" cy="1838925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57" y="4514517"/>
            <a:ext cx="3622774" cy="882794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57" y="2184111"/>
            <a:ext cx="3621040" cy="145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1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9835198" cy="51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charset="0"/>
                  <a:ea typeface="微軟正黑體" pitchFamily="34" charset="-120"/>
                  <a:cs typeface="Times New Roman" pitchFamily="18" charset="0"/>
                  <a:sym typeface="+mn-ea"/>
                </a:rPr>
                <a:t>Detailed description of work results</a:t>
              </a:r>
              <a:endParaRPr lang="en-US" altLang="zh-TW" sz="2800" dirty="0">
                <a:solidFill>
                  <a:schemeClr val="bg1"/>
                </a:solidFill>
                <a:latin typeface="Arial" charset="0"/>
                <a:ea typeface="微軟正黑體" pitchFamily="34" charset="-120"/>
                <a:sym typeface="+mn-ea"/>
              </a:endParaRPr>
            </a:p>
          </p:txBody>
        </p:sp>
      </p:grpSp>
      <p:sp>
        <p:nvSpPr>
          <p:cNvPr id="59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4. </a:t>
            </a:r>
            <a:r>
              <a:rPr lang="en-US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Setup </a:t>
            </a: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station and build up program for AOI External stations at F5-5F.</a:t>
            </a:r>
          </a:p>
        </p:txBody>
      </p:sp>
      <p:sp>
        <p:nvSpPr>
          <p:cNvPr id="82" name="Text Box 9"/>
          <p:cNvSpPr txBox="1"/>
          <p:nvPr/>
        </p:nvSpPr>
        <p:spPr>
          <a:xfrm>
            <a:off x="6276773" y="1549667"/>
            <a:ext cx="5507269" cy="5107781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vi-VN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lvl="1"/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3" name="Text Box 9"/>
          <p:cNvSpPr txBox="1"/>
          <p:nvPr/>
        </p:nvSpPr>
        <p:spPr>
          <a:xfrm>
            <a:off x="195262" y="1562866"/>
            <a:ext cx="5507269" cy="5107781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Project : </a:t>
            </a: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en-US" altLang="vi-VN" sz="1400" dirty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USW-Flex-2.5G-8 / POE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( </a:t>
            </a:r>
            <a:r>
              <a:rPr lang="vi-VN" altLang="vi-VN" sz="1400" dirty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5P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Line )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en-US" altLang="vi-VN" sz="1400" dirty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USW-Flex-2.5G-5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( </a:t>
            </a: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5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 Line )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en-US" altLang="vi-VN" sz="1400" dirty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ICX-8100 series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( </a:t>
            </a: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5S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Line )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Progress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100% completion with </a:t>
            </a: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</a:t>
            </a:r>
            <a:r>
              <a:rPr lang="en-US" altLang="vi-VN" sz="1400" dirty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USW-Flex-2.5G-8 / POE 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100</a:t>
            </a: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% completion with AOI External </a:t>
            </a:r>
            <a:r>
              <a:rPr lang="en-US" altLang="vi-VN" sz="1400" dirty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USW-Flex-2.5G-5 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AOI External ICX-8100 series </a:t>
            </a:r>
            <a:r>
              <a:rPr lang="vi-VN" altLang="vi-VN" sz="1400" dirty="0" smtClean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in the process of verify the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Quanlity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Total: 2/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3</a:t>
            </a: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projects finished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Completed: 67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Outcome</a:t>
            </a:r>
            <a:endParaRPr lang="vi-VN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Improved </a:t>
            </a: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detection of missing components across all AOI External project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Enhanced product quality and reduce false detection.</a:t>
            </a:r>
          </a:p>
          <a:p>
            <a:pPr lvl="1"/>
            <a:endParaRPr lang="en-US" alt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4" name="AutoShape 18"/>
          <p:cNvSpPr/>
          <p:nvPr/>
        </p:nvSpPr>
        <p:spPr>
          <a:xfrm rot="5400000">
            <a:off x="3501216" y="4094590"/>
            <a:ext cx="4976872" cy="17937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" name="Rounded Rectangular Callout 87"/>
          <p:cNvSpPr/>
          <p:nvPr/>
        </p:nvSpPr>
        <p:spPr>
          <a:xfrm>
            <a:off x="9418029" y="2319822"/>
            <a:ext cx="2173895" cy="409575"/>
          </a:xfrm>
          <a:prstGeom prst="wedgeRoundRectCallout">
            <a:avLst>
              <a:gd name="adj1" fmla="val -70744"/>
              <a:gd name="adj2" fmla="val 5087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vi-VN" sz="140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USW-Flex-2.5G-</a:t>
            </a: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8/POE</a:t>
            </a:r>
            <a:endParaRPr lang="en-US" sz="1400" dirty="0">
              <a:solidFill>
                <a:sysClr val="windowText" lastClr="00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89" name="Rounded Rectangular Callout 88"/>
          <p:cNvSpPr/>
          <p:nvPr/>
        </p:nvSpPr>
        <p:spPr>
          <a:xfrm>
            <a:off x="6785863" y="3898769"/>
            <a:ext cx="1735455" cy="409575"/>
          </a:xfrm>
          <a:prstGeom prst="wedgeRoundRectCallout">
            <a:avLst>
              <a:gd name="adj1" fmla="val 75200"/>
              <a:gd name="adj2" fmla="val 3924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USW-Flex-2.5G-</a:t>
            </a:r>
            <a:r>
              <a:rPr lang="vi-VN" altLang="vi-VN" sz="1400" dirty="0" smtClean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5</a:t>
            </a:r>
            <a:endParaRPr lang="en-US" sz="1400" dirty="0">
              <a:solidFill>
                <a:sysClr val="windowText" lastClr="00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90" name="Rounded Rectangular Callout 89"/>
          <p:cNvSpPr/>
          <p:nvPr/>
        </p:nvSpPr>
        <p:spPr>
          <a:xfrm>
            <a:off x="9893084" y="5392555"/>
            <a:ext cx="1152525" cy="409575"/>
          </a:xfrm>
          <a:prstGeom prst="wedgeRoundRectCallout">
            <a:avLst>
              <a:gd name="adj1" fmla="val -124965"/>
              <a:gd name="adj2" fmla="val 5784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1400" dirty="0" smtClean="0">
                <a:solidFill>
                  <a:sysClr val="windowText" lastClr="000000"/>
                </a:solidFill>
                <a:ea typeface="Microsoft JhengHei" panose="020B0604030504040204" pitchFamily="34" charset="-120"/>
              </a:rPr>
              <a:t>ICX-8100</a:t>
            </a:r>
            <a:endParaRPr lang="en-US" sz="1400" dirty="0">
              <a:solidFill>
                <a:sysClr val="windowText" lastClr="000000"/>
              </a:solidFill>
              <a:ea typeface="Microsoft JhengHei" panose="020B0604030504040204" pitchFamily="34" charset="-120"/>
            </a:endParaRPr>
          </a:p>
        </p:txBody>
      </p:sp>
      <p:pic>
        <p:nvPicPr>
          <p:cNvPr id="71" name="Picture 7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407" y="3423016"/>
            <a:ext cx="2377440" cy="14904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6" name="Picture 75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470" y="1923709"/>
            <a:ext cx="2377440" cy="14904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1" name="Picture 90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470" y="4852107"/>
            <a:ext cx="2377440" cy="14904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8924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712764" y="1420645"/>
            <a:ext cx="6076257" cy="510778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5. Add new function</a:t>
            </a:r>
            <a:r>
              <a:rPr lang="vi-VN" altLang="zh-TW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 for </a:t>
            </a: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AOI Carton Machine of 4K-Panasonic</a:t>
            </a:r>
          </a:p>
        </p:txBody>
      </p:sp>
      <p:sp>
        <p:nvSpPr>
          <p:cNvPr id="15" name="AutoShape 18"/>
          <p:cNvSpPr/>
          <p:nvPr/>
        </p:nvSpPr>
        <p:spPr>
          <a:xfrm rot="5400000">
            <a:off x="2621228" y="4079749"/>
            <a:ext cx="5325482" cy="7274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lowchart: Alternate Process 35"/>
          <p:cNvSpPr/>
          <p:nvPr/>
        </p:nvSpPr>
        <p:spPr>
          <a:xfrm>
            <a:off x="432656" y="1466650"/>
            <a:ext cx="4396926" cy="790775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14"/>
          <p:cNvSpPr txBox="1"/>
          <p:nvPr/>
        </p:nvSpPr>
        <p:spPr>
          <a:xfrm>
            <a:off x="6078412" y="1969503"/>
            <a:ext cx="552010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During production: The Operator (OP) may make incorrect actions and arrange products not according to SOP</a:t>
            </a:r>
          </a:p>
          <a:p>
            <a:pPr marL="171450" indent="-171450">
              <a:buFontTx/>
              <a:buChar char="-"/>
            </a:pPr>
            <a:r>
              <a:rPr lang="en-US" altLang="zh-CN" sz="1200" dirty="0">
                <a:latin typeface="Arial" charset="0"/>
                <a:ea typeface="DengXian" panose="02010600030101010101" pitchFamily="2" charset="-122"/>
                <a:sym typeface="+mn-ea"/>
              </a:rPr>
              <a:t>This leads to failure in ensuring the quality and accuracy of the carton packaging process.</a:t>
            </a:r>
          </a:p>
        </p:txBody>
      </p:sp>
      <p:sp>
        <p:nvSpPr>
          <p:cNvPr id="39" name="TextBox 14"/>
          <p:cNvSpPr txBox="1"/>
          <p:nvPr/>
        </p:nvSpPr>
        <p:spPr>
          <a:xfrm>
            <a:off x="6035347" y="2969889"/>
            <a:ext cx="556317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defTabSz="457200"/>
            <a:r>
              <a: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Program</a:t>
            </a: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Improvement :</a:t>
            </a:r>
          </a:p>
          <a:p>
            <a:pPr marL="171450" lvl="0" indent="-171450" defTabSz="45720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Added a camera</a:t>
            </a:r>
            <a:r>
              <a: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function to check the </a:t>
            </a: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product status</a:t>
            </a:r>
            <a:r>
              <a: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</a:t>
            </a: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and ensure </a:t>
            </a:r>
            <a:r>
              <a: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all units</a:t>
            </a: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</a:t>
            </a:r>
            <a:r>
              <a: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are</a:t>
            </a: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correctly</a:t>
            </a:r>
            <a:r>
              <a:rPr lang="vi-VN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 arranged </a:t>
            </a: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inside the carton.</a:t>
            </a:r>
            <a:endParaRPr lang="vi-VN" sz="1200" dirty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  <a:p>
            <a:pPr marL="171450" lvl="0" indent="-171450" defTabSz="45720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If the unit is not placed at the correct position =&gt; The program fails and carton printing is disabled.</a:t>
            </a:r>
            <a:endParaRPr lang="vi-VN" sz="1200" dirty="0">
              <a:solidFill>
                <a:sysClr val="windowText" lastClr="000000"/>
              </a:solidFill>
              <a:latin typeface="Arial" charset="0"/>
              <a:ea typeface="微軟正黑體" pitchFamily="34" charset="-120"/>
              <a:sym typeface="+mn-ea"/>
            </a:endParaRPr>
          </a:p>
          <a:p>
            <a:pPr lvl="0" defTabSz="457200"/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PLC Improvement :</a:t>
            </a:r>
          </a:p>
          <a:p>
            <a:pPr marL="171450" lvl="0" indent="-171450" defTabSz="45720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Integrated PLC checking to verify the product quantity and correctness.</a:t>
            </a:r>
          </a:p>
          <a:p>
            <a:pPr marL="171450" lvl="0" indent="-171450" defTabSz="45720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When the operator arrange product incorrect =&gt; The program fails =&gt; Red warning light and alarm signal are activated</a:t>
            </a:r>
          </a:p>
        </p:txBody>
      </p:sp>
      <p:sp>
        <p:nvSpPr>
          <p:cNvPr id="40" name="TextBox 13"/>
          <p:cNvSpPr txBox="1"/>
          <p:nvPr/>
        </p:nvSpPr>
        <p:spPr>
          <a:xfrm>
            <a:off x="6035347" y="4766595"/>
            <a:ext cx="4802007" cy="24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After Improve</a:t>
            </a:r>
          </a:p>
        </p:txBody>
      </p:sp>
      <p:sp>
        <p:nvSpPr>
          <p:cNvPr id="41" name="TextBox 13"/>
          <p:cNvSpPr txBox="1"/>
          <p:nvPr/>
        </p:nvSpPr>
        <p:spPr>
          <a:xfrm>
            <a:off x="6045853" y="1694712"/>
            <a:ext cx="4830581" cy="24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Before Improve</a:t>
            </a:r>
          </a:p>
        </p:txBody>
      </p:sp>
      <p:sp>
        <p:nvSpPr>
          <p:cNvPr id="42" name="TextBox 15"/>
          <p:cNvSpPr txBox="1"/>
          <p:nvPr/>
        </p:nvSpPr>
        <p:spPr>
          <a:xfrm>
            <a:off x="6035347" y="2756695"/>
            <a:ext cx="4812513" cy="243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微軟正黑體" pitchFamily="34" charset="-120"/>
                <a:sym typeface="+mn-ea"/>
              </a:rPr>
              <a:t>Details Improve</a:t>
            </a:r>
          </a:p>
        </p:txBody>
      </p:sp>
      <p:sp>
        <p:nvSpPr>
          <p:cNvPr id="47" name="TextBox 14"/>
          <p:cNvSpPr txBox="1"/>
          <p:nvPr/>
        </p:nvSpPr>
        <p:spPr>
          <a:xfrm>
            <a:off x="6035347" y="5010435"/>
            <a:ext cx="5439349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The AOI system automatically verify carton arrangement before printing label.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Incorrect cartons are detected immediately and prevented from entering the next process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ysClr val="windowText" lastClr="000000"/>
                </a:solidFill>
                <a:latin typeface="Arial" charset="0"/>
                <a:ea typeface="微軟正黑體" pitchFamily="34" charset="-120"/>
                <a:sym typeface="+mn-ea"/>
              </a:rPr>
              <a:t>Operator dependency is reduced, ensuring consistent packaging quality</a:t>
            </a:r>
          </a:p>
        </p:txBody>
      </p:sp>
      <p:sp>
        <p:nvSpPr>
          <p:cNvPr id="55" name="文本框 73"/>
          <p:cNvSpPr txBox="1"/>
          <p:nvPr/>
        </p:nvSpPr>
        <p:spPr>
          <a:xfrm>
            <a:off x="432656" y="1537780"/>
            <a:ext cx="4421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Location: 4K – Panasonic – Station AOI Carton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Model: </a:t>
            </a: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Panasonic</a:t>
            </a:r>
            <a:endParaRPr lang="en-US" sz="1200" i="1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Improvement: Improve station AOI Carton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256" y="2368822"/>
            <a:ext cx="4435623" cy="415432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21072" y="2490793"/>
            <a:ext cx="1630483" cy="8915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Picture 27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831243" y="2479203"/>
            <a:ext cx="1627632" cy="8961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9" name="圆角矩形 5"/>
          <p:cNvSpPr/>
          <p:nvPr/>
        </p:nvSpPr>
        <p:spPr>
          <a:xfrm>
            <a:off x="1034452" y="6022265"/>
            <a:ext cx="3220760" cy="340435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200" dirty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Station </a:t>
            </a:r>
            <a:r>
              <a:rPr lang="en-US" altLang="zh-CN" sz="1200" dirty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P6</a:t>
            </a:r>
            <a:r>
              <a:rPr lang="vi-VN" altLang="zh-CN" sz="1200" dirty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1200" dirty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Carton Label) after </a:t>
            </a:r>
            <a:r>
              <a:rPr lang="en-US" altLang="zh-CN" sz="1200" dirty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</a:rPr>
              <a:t>improve</a:t>
            </a:r>
          </a:p>
        </p:txBody>
      </p:sp>
      <p:pic>
        <p:nvPicPr>
          <p:cNvPr id="30" name="Picture 29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13202" y="3879191"/>
            <a:ext cx="1627632" cy="8961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1" name="Picture 30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17964" y="5019970"/>
            <a:ext cx="1627632" cy="8961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3" name="圆角矩形 5"/>
          <p:cNvSpPr/>
          <p:nvPr/>
        </p:nvSpPr>
        <p:spPr>
          <a:xfrm>
            <a:off x="1033135" y="3477054"/>
            <a:ext cx="3220760" cy="339532"/>
          </a:xfrm>
          <a:prstGeom prst="roundRect">
            <a:avLst/>
          </a:prstGeom>
          <a:solidFill>
            <a:srgbClr val="B7BAD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Station 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P6</a:t>
            </a:r>
            <a:r>
              <a:rPr lang="vi-VN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Carton Label</a:t>
            </a:r>
            <a:r>
              <a:rPr lang="vi-VN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en-US" altLang="zh-CN" sz="1200" dirty="0" smtClean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</a:rPr>
              <a:t>before </a:t>
            </a:r>
            <a:r>
              <a:rPr lang="en-US" altLang="zh-CN" sz="1200" dirty="0">
                <a:solidFill>
                  <a:sysClr val="windowText" lastClr="000000"/>
                </a:solidFill>
                <a:ea typeface="SimSun" pitchFamily="2" charset="-122"/>
                <a:cs typeface="Times New Roman" panose="02020603050405020304" pitchFamily="18" charset="0"/>
              </a:rPr>
              <a:t>improve</a:t>
            </a:r>
          </a:p>
        </p:txBody>
      </p:sp>
      <p:pic>
        <p:nvPicPr>
          <p:cNvPr id="34" name="Picture 33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243" y="3871607"/>
            <a:ext cx="1627632" cy="8961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5" name="Picture 3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511" y="5019970"/>
            <a:ext cx="1627632" cy="8961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2" name="Notched Right Arrow 51"/>
          <p:cNvSpPr/>
          <p:nvPr/>
        </p:nvSpPr>
        <p:spPr>
          <a:xfrm>
            <a:off x="2478432" y="4827100"/>
            <a:ext cx="261269" cy="154183"/>
          </a:xfrm>
          <a:prstGeom prst="notch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720768" y="1529495"/>
            <a:ext cx="6076257" cy="510778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6-7.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Build </a:t>
            </a:r>
            <a:r>
              <a:rPr lang="vi-VN" altLang="zh-TW" dirty="0">
                <a:cs typeface="Arial" panose="020B0604020202020204" pitchFamily="34" charset="0"/>
              </a:rPr>
              <a:t>up and testing new program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 for the AOI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Carton/AOI </a:t>
            </a:r>
            <a:r>
              <a:rPr lang="en-US" altLang="zh-TW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Giftbox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for Yamaha</a:t>
            </a:r>
            <a:r>
              <a:rPr lang="vi-VN" altLang="zh-TW" dirty="0">
                <a:cs typeface="Arial" panose="020B0604020202020204" pitchFamily="34" charset="0"/>
              </a:rPr>
              <a:t> series in line 4K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AutoShape 18"/>
          <p:cNvSpPr/>
          <p:nvPr/>
        </p:nvSpPr>
        <p:spPr>
          <a:xfrm rot="5400000">
            <a:off x="2735524" y="4079749"/>
            <a:ext cx="5325482" cy="7274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lowchart: Alternate Process 35"/>
          <p:cNvSpPr/>
          <p:nvPr/>
        </p:nvSpPr>
        <p:spPr>
          <a:xfrm>
            <a:off x="564537" y="1466651"/>
            <a:ext cx="4396926" cy="629432"/>
          </a:xfrm>
          <a:prstGeom prst="flowChartAlternateProcess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文本框 73"/>
          <p:cNvSpPr txBox="1"/>
          <p:nvPr/>
        </p:nvSpPr>
        <p:spPr>
          <a:xfrm>
            <a:off x="564537" y="1537780"/>
            <a:ext cx="4421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Location: 4K – </a:t>
            </a: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Yamaha </a:t>
            </a: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– Station AOI </a:t>
            </a: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Carton/ AOI </a:t>
            </a:r>
            <a:r>
              <a:rPr lang="en-US" sz="1200" i="1" dirty="0" err="1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Giftbox</a:t>
            </a:r>
            <a:endParaRPr lang="en-US" sz="1200" i="1" dirty="0">
              <a:latin typeface="Arial" panose="020B0604020202020204" pitchFamily="34" charset="0"/>
              <a:ea typeface="微軟正黑體" pitchFamily="34" charset="-120"/>
              <a:cs typeface="Arial" panose="020B0604020202020204" pitchFamily="34" charset="0"/>
              <a:sym typeface="+mn-ea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1200" i="1" dirty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Model: </a:t>
            </a:r>
            <a:r>
              <a:rPr lang="en-US" sz="1200" i="1" dirty="0" smtClean="0"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  <a:sym typeface="+mn-ea"/>
              </a:rPr>
              <a:t>Yamaha/Zumba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3668" y="2368822"/>
            <a:ext cx="4690541" cy="415432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9296" y="5092601"/>
            <a:ext cx="2304288" cy="11887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296" y="1740433"/>
            <a:ext cx="2302486" cy="11900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Down Arrow 3"/>
          <p:cNvSpPr/>
          <p:nvPr/>
        </p:nvSpPr>
        <p:spPr>
          <a:xfrm>
            <a:off x="7130777" y="2963805"/>
            <a:ext cx="237720" cy="390525"/>
          </a:xfrm>
          <a:prstGeom prst="downArrow">
            <a:avLst/>
          </a:prstGeom>
          <a:solidFill>
            <a:srgbClr val="FF0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7" name="Down Arrow 56"/>
          <p:cNvSpPr/>
          <p:nvPr/>
        </p:nvSpPr>
        <p:spPr>
          <a:xfrm>
            <a:off x="7130777" y="4702076"/>
            <a:ext cx="237720" cy="390525"/>
          </a:xfrm>
          <a:prstGeom prst="downArrow">
            <a:avLst/>
          </a:prstGeom>
          <a:solidFill>
            <a:srgbClr val="FF0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Flowchart: Alternate Process 6"/>
          <p:cNvSpPr/>
          <p:nvPr/>
        </p:nvSpPr>
        <p:spPr>
          <a:xfrm>
            <a:off x="6099296" y="3354330"/>
            <a:ext cx="2302486" cy="131441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206" y="3435956"/>
            <a:ext cx="836571" cy="6875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3" name="Picture 52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497" y="3435956"/>
            <a:ext cx="836571" cy="6797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6232715" y="4205139"/>
            <a:ext cx="959552" cy="3693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Label Printing </a:t>
            </a:r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S</a:t>
            </a:r>
            <a:r>
              <a:rPr kumimoji="0" lang="en-US" sz="9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oftware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307006" y="4179704"/>
            <a:ext cx="959552" cy="3693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900" dirty="0" smtClean="0">
                <a:solidFill>
                  <a:schemeClr val="tx1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Weighing Software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60" y="4646953"/>
            <a:ext cx="1764792" cy="11064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19" y="2881313"/>
            <a:ext cx="1768606" cy="11092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0" name="Down Arrow 59"/>
          <p:cNvSpPr/>
          <p:nvPr/>
        </p:nvSpPr>
        <p:spPr>
          <a:xfrm>
            <a:off x="1327130" y="4123513"/>
            <a:ext cx="237720" cy="390525"/>
          </a:xfrm>
          <a:prstGeom prst="downArrow">
            <a:avLst/>
          </a:prstGeom>
          <a:solidFill>
            <a:srgbClr val="FF0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25525" y="2881313"/>
            <a:ext cx="25452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marL="285750" indent="-285750">
              <a:buFont typeface="Arial" pitchFamily="34" charset="0"/>
              <a:buChar char="•"/>
              <a:defRPr sz="1200" i="1">
                <a:solidFill>
                  <a:schemeClr val="tx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i="0" dirty="0"/>
              <a:t>AOI </a:t>
            </a:r>
            <a:r>
              <a:rPr lang="en-US" i="0" dirty="0" err="1"/>
              <a:t>Giftbox</a:t>
            </a:r>
            <a:r>
              <a:rPr lang="en-US" i="0" dirty="0"/>
              <a:t> </a:t>
            </a:r>
            <a:r>
              <a:rPr lang="en-US" i="0" dirty="0" smtClean="0"/>
              <a:t>Yamaha/Zumba</a:t>
            </a:r>
          </a:p>
          <a:p>
            <a:pPr>
              <a:buFont typeface="Arial" panose="020B0604020202020204" pitchFamily="34" charset="0"/>
              <a:buChar char="–"/>
            </a:pPr>
            <a:endParaRPr lang="en-US" i="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i="0" dirty="0"/>
              <a:t>Completed </a:t>
            </a:r>
            <a:r>
              <a:rPr lang="en-US" i="0" dirty="0" smtClean="0"/>
              <a:t>development </a:t>
            </a:r>
            <a:r>
              <a:rPr lang="en-US" i="0" dirty="0"/>
              <a:t>of the AOI </a:t>
            </a:r>
            <a:r>
              <a:rPr lang="en-US" i="0" dirty="0" err="1"/>
              <a:t>Giftbox</a:t>
            </a:r>
            <a:r>
              <a:rPr lang="en-US" i="0" dirty="0"/>
              <a:t> program for the Yamaha/Zumba </a:t>
            </a:r>
            <a:r>
              <a:rPr lang="vi-VN" i="0" dirty="0" smtClean="0"/>
              <a:t>series.</a:t>
            </a:r>
          </a:p>
          <a:p>
            <a:pPr>
              <a:buFont typeface="Wingdings" panose="05000000000000000000" pitchFamily="2" charset="2"/>
              <a:buChar char="Ø"/>
            </a:pPr>
            <a:endParaRPr lang="vi-VN" i="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vi-VN" i="0" dirty="0" smtClean="0"/>
              <a:t>Completed read</a:t>
            </a:r>
            <a:r>
              <a:rPr lang="en-US" i="0" dirty="0" err="1" smtClean="0"/>
              <a:t>ing</a:t>
            </a:r>
            <a:r>
              <a:rPr lang="vi-VN" i="0" dirty="0" smtClean="0"/>
              <a:t> and verif</a:t>
            </a:r>
            <a:r>
              <a:rPr lang="en-US" i="0" dirty="0" err="1" smtClean="0"/>
              <a:t>ication</a:t>
            </a:r>
            <a:r>
              <a:rPr lang="en-US" i="0" dirty="0" smtClean="0"/>
              <a:t> of</a:t>
            </a:r>
            <a:r>
              <a:rPr lang="vi-VN" i="0" dirty="0" smtClean="0"/>
              <a:t> the label code on the giftbox.</a:t>
            </a:r>
          </a:p>
          <a:p>
            <a:pPr>
              <a:buFont typeface="Wingdings" panose="05000000000000000000" pitchFamily="2" charset="2"/>
              <a:buChar char="Ø"/>
            </a:pPr>
            <a:endParaRPr lang="vi-VN" i="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i="0" dirty="0"/>
              <a:t>The </a:t>
            </a:r>
            <a:r>
              <a:rPr lang="en-US" i="0" dirty="0" smtClean="0"/>
              <a:t>product appearance inspection process is </a:t>
            </a:r>
            <a:r>
              <a:rPr lang="en-US" i="0" dirty="0"/>
              <a:t>still in the training phase</a:t>
            </a:r>
            <a:r>
              <a:rPr lang="en-US" i="0" dirty="0" smtClean="0"/>
              <a:t>.</a:t>
            </a:r>
          </a:p>
          <a:p>
            <a:pPr algn="ctr"/>
            <a:endParaRPr lang="en-US" i="0" dirty="0"/>
          </a:p>
          <a:p>
            <a:pPr marL="0" indent="0" algn="ctr">
              <a:buNone/>
            </a:pPr>
            <a:endParaRPr lang="en-US" i="0" dirty="0" smtClean="0"/>
          </a:p>
          <a:p>
            <a:pPr algn="ctr"/>
            <a:endParaRPr lang="en-US" i="0" dirty="0"/>
          </a:p>
          <a:p>
            <a:pPr algn="ctr"/>
            <a:endParaRPr lang="en-US" i="0" dirty="0" smtClean="0"/>
          </a:p>
          <a:p>
            <a:pPr algn="ctr"/>
            <a:endParaRPr lang="en-US" i="0" dirty="0"/>
          </a:p>
        </p:txBody>
      </p:sp>
      <p:sp>
        <p:nvSpPr>
          <p:cNvPr id="61" name="TextBox 60"/>
          <p:cNvSpPr txBox="1"/>
          <p:nvPr/>
        </p:nvSpPr>
        <p:spPr>
          <a:xfrm>
            <a:off x="8516521" y="1740433"/>
            <a:ext cx="294833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marL="285750" indent="-285750" algn="ctr">
              <a:buFont typeface="Arial" pitchFamily="34" charset="0"/>
              <a:buChar char="•"/>
              <a:defRPr sz="1200" i="0">
                <a:solidFill>
                  <a:schemeClr val="tx1"/>
                </a:solidFill>
                <a:latin typeface="Arial" panose="020B0604020202020204" pitchFamily="34" charset="0"/>
                <a:ea typeface="微軟正黑體" pitchFamily="34" charset="-12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/>
            <a:r>
              <a:rPr lang="en-US" dirty="0"/>
              <a:t>AOI Carton </a:t>
            </a:r>
            <a:r>
              <a:rPr lang="en-US" dirty="0" smtClean="0"/>
              <a:t>Yamaha/Zumba</a:t>
            </a:r>
            <a:endParaRPr lang="vi-VN" dirty="0" smtClean="0"/>
          </a:p>
          <a:p>
            <a:pPr algn="l">
              <a:buFont typeface="Wingdings" panose="05000000000000000000" pitchFamily="2" charset="2"/>
              <a:buChar char="Ø"/>
            </a:pPr>
            <a:endParaRPr lang="vi-VN" dirty="0" smtClean="0"/>
          </a:p>
          <a:p>
            <a:pPr algn="l">
              <a:buFont typeface="Wingdings" panose="05000000000000000000" pitchFamily="2" charset="2"/>
              <a:buChar char="Ø"/>
            </a:pPr>
            <a:r>
              <a:rPr lang="en-US" dirty="0"/>
              <a:t>Completed </a:t>
            </a:r>
            <a:r>
              <a:rPr lang="en-US" dirty="0" smtClean="0"/>
              <a:t>development </a:t>
            </a:r>
            <a:r>
              <a:rPr lang="en-US" dirty="0"/>
              <a:t>of the AOI </a:t>
            </a:r>
            <a:r>
              <a:rPr lang="vi-VN" dirty="0" smtClean="0"/>
              <a:t>Carton</a:t>
            </a:r>
            <a:r>
              <a:rPr lang="en-US" dirty="0" smtClean="0"/>
              <a:t> </a:t>
            </a:r>
            <a:r>
              <a:rPr lang="en-US" dirty="0"/>
              <a:t>program for the </a:t>
            </a:r>
            <a:r>
              <a:rPr lang="en-US" dirty="0" smtClean="0"/>
              <a:t>Yamaha </a:t>
            </a:r>
            <a:r>
              <a:rPr lang="vi-VN" dirty="0" smtClean="0"/>
              <a:t>series.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vi-VN" dirty="0"/>
          </a:p>
          <a:p>
            <a:pPr algn="l">
              <a:buFont typeface="Wingdings" panose="05000000000000000000" pitchFamily="2" charset="2"/>
              <a:buChar char="Ø"/>
            </a:pPr>
            <a:r>
              <a:rPr lang="vi-VN" dirty="0" smtClean="0"/>
              <a:t>Completed connect</a:t>
            </a:r>
            <a:r>
              <a:rPr lang="en-US" dirty="0" smtClean="0"/>
              <a:t>ion</a:t>
            </a:r>
            <a:r>
              <a:rPr lang="vi-VN" dirty="0" smtClean="0"/>
              <a:t> with Label Printing Software ang Weighing Software from MIS.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vi-VN" dirty="0"/>
          </a:p>
          <a:p>
            <a:pPr algn="l">
              <a:buFont typeface="Wingdings" panose="05000000000000000000" pitchFamily="2" charset="2"/>
              <a:buChar char="Ø"/>
            </a:pPr>
            <a:r>
              <a:rPr lang="vi-VN" dirty="0" smtClean="0"/>
              <a:t>Completed read</a:t>
            </a:r>
            <a:r>
              <a:rPr lang="en-US" dirty="0" err="1" smtClean="0"/>
              <a:t>ing</a:t>
            </a:r>
            <a:r>
              <a:rPr lang="vi-VN" dirty="0" smtClean="0"/>
              <a:t> and verif</a:t>
            </a:r>
            <a:r>
              <a:rPr lang="en-US" dirty="0" err="1" smtClean="0"/>
              <a:t>ication</a:t>
            </a:r>
            <a:r>
              <a:rPr lang="vi-VN" dirty="0" smtClean="0"/>
              <a:t> label code on each product in</a:t>
            </a:r>
            <a:r>
              <a:rPr lang="en-US" dirty="0" smtClean="0"/>
              <a:t>side the</a:t>
            </a:r>
            <a:r>
              <a:rPr lang="vi-VN" dirty="0" smtClean="0"/>
              <a:t> carton.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vi-VN" dirty="0"/>
          </a:p>
          <a:p>
            <a:pPr algn="l"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dirty="0" smtClean="0"/>
              <a:t>automation </a:t>
            </a:r>
            <a:r>
              <a:rPr lang="en-US" dirty="0"/>
              <a:t>process is not yet </a:t>
            </a:r>
            <a:r>
              <a:rPr lang="en-US" dirty="0" smtClean="0"/>
              <a:t>fully completed.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58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8AC40-EB88-336E-7C79-335E3B861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21AF07A1-A614-4A32-1047-A11B0DE5B6DF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20D2B2AE-8C09-99F1-D701-D3ABC4EEFAE7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9CF5DA9F-6812-D73D-266F-4E067D92C51B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2DCFDDF-37F4-7BEF-4375-810C6DB92D93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683ABCE-D903-0758-3DF8-BF60678F8C0B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D08B3026-FC58-3EBA-1097-199AFEA35AFB}"/>
              </a:ext>
            </a:extLst>
          </p:cNvPr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22C07996-C0F5-351D-35F1-34C297084CAC}"/>
                </a:ext>
              </a:extLst>
            </p:cNvPr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4BBD2854-1603-187A-C922-DF4106140DB8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>
                <a:extLst>
                  <a:ext uri="{FF2B5EF4-FFF2-40B4-BE49-F238E27FC236}">
                    <a16:creationId xmlns:a16="http://schemas.microsoft.com/office/drawing/2014/main" id="{7ACA31C9-71D0-9A39-8098-2A944E93EE3B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>
                <a:extLst>
                  <a:ext uri="{FF2B5EF4-FFF2-40B4-BE49-F238E27FC236}">
                    <a16:creationId xmlns:a16="http://schemas.microsoft.com/office/drawing/2014/main" id="{485483A0-CFED-B508-6A22-7C9C4770D477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BC4F7128-A604-DE6A-8A12-F024F005C9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2A753EB-F610-F4D6-52F6-64EC7ACEAC8C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63D96DF1-28D8-F4AD-5287-7F680B63FE2F}"/>
                </a:ext>
              </a:extLst>
            </p:cNvPr>
            <p:cNvSpPr txBox="1"/>
            <p:nvPr/>
          </p:nvSpPr>
          <p:spPr>
            <a:xfrm>
              <a:off x="1604961" y="196222"/>
              <a:ext cx="9779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en-US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Q1 </a:t>
              </a:r>
              <a:r>
                <a:rPr lang="vi-VN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W</a:t>
              </a:r>
              <a:r>
                <a:rPr lang="en-US" altLang="zh-TW" sz="2800" dirty="0" err="1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ork</a:t>
              </a:r>
              <a:r>
                <a:rPr lang="en-US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 </a:t>
              </a:r>
              <a:r>
                <a:rPr lang="en-US" altLang="zh-TW" sz="28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and </a:t>
              </a:r>
              <a:r>
                <a:rPr lang="vi-VN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S</a:t>
              </a:r>
              <a:r>
                <a:rPr lang="en-US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elf-</a:t>
              </a:r>
              <a:r>
                <a:rPr lang="vi-VN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D</a:t>
              </a:r>
              <a:r>
                <a:rPr lang="en-US" altLang="zh-TW" sz="2800" dirty="0" err="1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evelopment</a:t>
              </a:r>
              <a:r>
                <a:rPr lang="en-US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 </a:t>
              </a:r>
              <a:r>
                <a:rPr lang="vi-VN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P</a:t>
              </a:r>
              <a:r>
                <a:rPr lang="en-US" altLang="zh-TW" sz="2800" dirty="0" err="1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lan</a:t>
              </a:r>
              <a:r>
                <a:rPr lang="en-US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 </a:t>
              </a:r>
              <a:r>
                <a:rPr lang="vi-VN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A</a:t>
              </a:r>
              <a:r>
                <a:rPr lang="en-US" altLang="zh-TW" sz="2800" dirty="0" err="1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chievement</a:t>
              </a:r>
              <a:r>
                <a:rPr lang="en-US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 </a:t>
              </a:r>
              <a:r>
                <a:rPr lang="vi-VN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R</a:t>
              </a:r>
              <a:r>
                <a:rPr lang="en-US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ate</a:t>
              </a:r>
              <a:endParaRPr lang="en-US" altLang="zh-TW" sz="28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  <a:sym typeface="+mn-ea"/>
              </a:endParaRPr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880449"/>
              </p:ext>
            </p:extLst>
          </p:nvPr>
        </p:nvGraphicFramePr>
        <p:xfrm>
          <a:off x="195262" y="1529407"/>
          <a:ext cx="11791900" cy="31620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63467">
                  <a:extLst>
                    <a:ext uri="{9D8B030D-6E8A-4147-A177-3AD203B41FA5}">
                      <a16:colId xmlns:a16="http://schemas.microsoft.com/office/drawing/2014/main" val="922188929"/>
                    </a:ext>
                  </a:extLst>
                </a:gridCol>
                <a:gridCol w="1412474">
                  <a:extLst>
                    <a:ext uri="{9D8B030D-6E8A-4147-A177-3AD203B41FA5}">
                      <a16:colId xmlns:a16="http://schemas.microsoft.com/office/drawing/2014/main" val="1193476092"/>
                    </a:ext>
                  </a:extLst>
                </a:gridCol>
                <a:gridCol w="3783555">
                  <a:extLst>
                    <a:ext uri="{9D8B030D-6E8A-4147-A177-3AD203B41FA5}">
                      <a16:colId xmlns:a16="http://schemas.microsoft.com/office/drawing/2014/main" val="4161255971"/>
                    </a:ext>
                  </a:extLst>
                </a:gridCol>
                <a:gridCol w="4332404">
                  <a:extLst>
                    <a:ext uri="{9D8B030D-6E8A-4147-A177-3AD203B41FA5}">
                      <a16:colId xmlns:a16="http://schemas.microsoft.com/office/drawing/2014/main" val="3296390528"/>
                    </a:ext>
                  </a:extLst>
                </a:gridCol>
              </a:tblGrid>
              <a:tr h="626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Q3 Work and self-development plan</a:t>
                      </a:r>
                      <a:endParaRPr lang="zh-TW" altLang="en-US" sz="1200" dirty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Achievement rate</a:t>
                      </a:r>
                      <a:endParaRPr lang="zh-TW" altLang="en-US" sz="1200" dirty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 smtClean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altLang="zh-TW" sz="1200" dirty="0" smtClean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TW" sz="1200" dirty="0" smtClean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he reason</a:t>
                      </a:r>
                      <a:endParaRPr lang="zh-TW" altLang="en-US" sz="1200" dirty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200" dirty="0" smtClean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TW" sz="1200" dirty="0" smtClean="0"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he plan for completion</a:t>
                      </a:r>
                      <a:endParaRPr lang="zh-TW" altLang="en-US" sz="1200" dirty="0" smtClean="0"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663950"/>
                  </a:ext>
                </a:extLst>
              </a:tr>
              <a:tr h="665177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Improve communication skills in Chinese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35%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Not really focused on learning Chinese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Try to learn to listen and speak more realistically.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359706"/>
                  </a:ext>
                </a:extLst>
              </a:tr>
              <a:tr h="5902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b="0" i="0" u="none" strike="noStrike" kern="1200" baseline="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r>
                        <a:rPr lang="zh-TW" alt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Expanding understanding in relevant areas : robot, plc, .</a:t>
                      </a:r>
                      <a:endParaRPr lang="zh-TW" alt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50%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r>
                        <a:rPr lang="vi-VN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Solving basic problems, some of advanced problems still need to improve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Learn and exchange more with </a:t>
                      </a:r>
                      <a:r>
                        <a:rPr lang="vi-VN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Tom_Vu</a:t>
                      </a: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and </a:t>
                      </a:r>
                      <a:r>
                        <a:rPr lang="vi-VN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Max_Doan</a:t>
                      </a: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about advanced op</a:t>
                      </a:r>
                      <a:r>
                        <a:rPr lang="vi-VN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timization.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044737"/>
                  </a:ext>
                </a:extLst>
              </a:tr>
              <a:tr h="5902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zh-TW" alt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Optimize python code for program</a:t>
                      </a: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endParaRPr lang="zh-TW" alt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27738"/>
                  </a:ext>
                </a:extLst>
              </a:tr>
              <a:tr h="690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</a:t>
                      </a:r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 problem solving skills</a:t>
                      </a:r>
                      <a:endParaRPr lang="zh-TW" alt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60%</a:t>
                      </a:r>
                      <a:endParaRPr lang="zh-TW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+mj-lt"/>
                        <a:buNone/>
                      </a:pPr>
                      <a:r>
                        <a:rPr lang="en-US" altLang="zh-TW" sz="12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Lack of experience and initiative in solving new problems</a:t>
                      </a: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TW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Take the initiative to learn and exchange problem-solving methods from experienced colleagues such as:</a:t>
                      </a:r>
                      <a:r>
                        <a:rPr lang="vi-VN" altLang="zh-TW" sz="1200" dirty="0" smtClean="0">
                          <a:latin typeface="+mn-lt"/>
                          <a:cs typeface="Arial" panose="020B0604020202020204" pitchFamily="34" charset="0"/>
                        </a:rPr>
                        <a:t> Mr.Albert ,Tom_Vu, PSZ_Snow,...</a:t>
                      </a:r>
                      <a:endParaRPr lang="zh-TW" alt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95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209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22DC-41D9-9039-1E50-1DCC667B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0428501F-31AB-0DD5-93DE-5E7D2BFF6F7B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A9881145-5EAD-7464-9FEB-B3DCD1046003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3D96D5F-05B0-311A-4C20-757990B8425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374A306-13D2-599F-6839-42540F4C4012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53B6089-68C3-C7E1-E768-FA5D4836C129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9D36CF88-B0B1-AEDD-CCE7-2DB039E7DE48}"/>
              </a:ext>
            </a:extLst>
          </p:cNvPr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03390BDD-9B72-9F37-E922-D9100757E467}"/>
                </a:ext>
              </a:extLst>
            </p:cNvPr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44951AEC-5F2B-0185-C8AD-C0C05C088C0F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3" name="圆角矩形 15">
                <a:extLst>
                  <a:ext uri="{FF2B5EF4-FFF2-40B4-BE49-F238E27FC236}">
                    <a16:creationId xmlns:a16="http://schemas.microsoft.com/office/drawing/2014/main" id="{CF7C8B5F-9966-9D3E-0393-58969A95E0E9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圆角矩形 16">
                <a:extLst>
                  <a:ext uri="{FF2B5EF4-FFF2-40B4-BE49-F238E27FC236}">
                    <a16:creationId xmlns:a16="http://schemas.microsoft.com/office/drawing/2014/main" id="{6F4CC479-26D5-ACBA-DD0A-33933707F842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5" name="圖片 14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CE63274E-24D9-99BB-E77C-8928F98DBB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A60C1F1-782A-F0A6-F805-F04B8E6DE854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DBF3AE9-E665-42AB-D033-8DC0E2173BAE}"/>
                </a:ext>
              </a:extLst>
            </p:cNvPr>
            <p:cNvSpPr txBox="1"/>
            <p:nvPr/>
          </p:nvSpPr>
          <p:spPr>
            <a:xfrm>
              <a:off x="1604962" y="196222"/>
              <a:ext cx="64999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Q</a:t>
              </a:r>
              <a:r>
                <a:rPr lang="en-US" altLang="zh-TW" sz="2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1 </a:t>
              </a:r>
              <a:r>
                <a:rPr lang="vi-VN" altLang="zh-TW" sz="28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W</a:t>
              </a:r>
              <a:r>
                <a:rPr lang="en-US" altLang="zh-TW" sz="2800" dirty="0" err="1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ork</a:t>
              </a:r>
              <a:r>
                <a:rPr lang="en-US" altLang="zh-TW" sz="28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 and </a:t>
              </a:r>
              <a:r>
                <a:rPr lang="vi-VN" altLang="zh-TW" sz="28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S</a:t>
              </a:r>
              <a:r>
                <a:rPr lang="en-US" altLang="zh-TW" sz="28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elf-</a:t>
              </a:r>
              <a:r>
                <a:rPr lang="vi-VN" altLang="zh-TW" sz="28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D</a:t>
              </a:r>
              <a:r>
                <a:rPr lang="en-US" altLang="zh-TW" sz="2800" dirty="0" err="1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evelopment</a:t>
              </a:r>
              <a:r>
                <a:rPr lang="en-US" altLang="zh-TW" sz="28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 </a:t>
              </a:r>
              <a:r>
                <a:rPr lang="vi-VN" altLang="zh-TW" sz="2800" dirty="0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P</a:t>
              </a:r>
              <a:r>
                <a:rPr lang="en-US" altLang="zh-TW" sz="2800" dirty="0" err="1">
                  <a:solidFill>
                    <a:schemeClr val="bg1"/>
                  </a:solidFill>
                  <a:latin typeface="Arial" panose="020B0604020202020204" pitchFamily="34" charset="0"/>
                  <a:ea typeface="微軟正黑體" panose="020B0604030504040204" pitchFamily="34" charset="-120"/>
                  <a:cs typeface="Arial" panose="020B0604020202020204" pitchFamily="34" charset="0"/>
                  <a:sym typeface="+mn-ea"/>
                </a:rPr>
                <a:t>lan</a:t>
              </a:r>
              <a:endParaRPr lang="en-US" altLang="zh-TW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68DE87F-4023-97E8-BB9F-ED4DA1338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923707"/>
              </p:ext>
            </p:extLst>
          </p:nvPr>
        </p:nvGraphicFramePr>
        <p:xfrm>
          <a:off x="616856" y="1103004"/>
          <a:ext cx="11077303" cy="28924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578484"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2000" dirty="0" smtClean="0">
                          <a:latin typeface="+mn-lt"/>
                          <a:ea typeface="微軟正黑體" panose="020B0604030504040204" pitchFamily="34" charset="-120"/>
                        </a:rPr>
                        <a:t>Time</a:t>
                      </a:r>
                      <a:endParaRPr lang="zh-TW" altLang="en-US" sz="20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Work and </a:t>
                      </a:r>
                      <a:r>
                        <a:rPr lang="vi-VN" altLang="zh-TW" sz="2000" dirty="0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TW" sz="2000" dirty="0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elf-</a:t>
                      </a:r>
                      <a:r>
                        <a:rPr lang="vi-VN" altLang="zh-TW" sz="2000" dirty="0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D</a:t>
                      </a:r>
                      <a:r>
                        <a:rPr lang="en-US" altLang="zh-TW" sz="2000" dirty="0" err="1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evelopment</a:t>
                      </a:r>
                      <a:r>
                        <a:rPr lang="en-US" altLang="zh-TW" sz="2000" dirty="0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altLang="zh-TW" sz="2000" dirty="0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2000" dirty="0" err="1" smtClean="0"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lan</a:t>
                      </a:r>
                      <a:endParaRPr lang="zh-TW" altLang="en-US" sz="2000" dirty="0"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BA996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Q1~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Continue to improve Chinese skills</a:t>
                      </a:r>
                      <a:endParaRPr lang="zh-TW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Continue to improve robot and PLC problem solving skills</a:t>
                      </a:r>
                      <a:endParaRPr lang="zh-TW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 problem solving skills</a:t>
                      </a:r>
                      <a:endParaRPr lang="zh-TW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48663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 programming skills</a:t>
                      </a:r>
                      <a:endParaRPr lang="zh-TW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32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310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"/>
                      </a14:imgEffect>
                      <a14:imgEffect>
                        <a14:brightnessContrast contrast="-6000"/>
                      </a14:imgEffect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softEdge rad="31750"/>
          </a:effectLst>
          <a:scene3d>
            <a:camera prst="orthographicFront"/>
            <a:lightRig rig="threePt" dir="t"/>
          </a:scene3d>
          <a:sp3d contourW="57150">
            <a:contourClr>
              <a:schemeClr val="accent3">
                <a:lumMod val="5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手繪多邊形: 圖案 4"/>
          <p:cNvSpPr/>
          <p:nvPr/>
        </p:nvSpPr>
        <p:spPr>
          <a:xfrm>
            <a:off x="7351059" y="0"/>
            <a:ext cx="4840940" cy="6858000"/>
          </a:xfrm>
          <a:custGeom>
            <a:avLst/>
            <a:gdLst>
              <a:gd name="connsiteX0" fmla="*/ 4117886 w 5593080"/>
              <a:gd name="connsiteY0" fmla="*/ 0 h 6858000"/>
              <a:gd name="connsiteX1" fmla="*/ 5593080 w 5593080"/>
              <a:gd name="connsiteY1" fmla="*/ 0 h 6858000"/>
              <a:gd name="connsiteX2" fmla="*/ 5593080 w 5593080"/>
              <a:gd name="connsiteY2" fmla="*/ 6091430 h 6858000"/>
              <a:gd name="connsiteX3" fmla="*/ 5132793 w 5593080"/>
              <a:gd name="connsiteY3" fmla="*/ 6858000 h 6858000"/>
              <a:gd name="connsiteX4" fmla="*/ 0 w 559308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3080" h="6858000">
                <a:moveTo>
                  <a:pt x="4117886" y="0"/>
                </a:moveTo>
                <a:lnTo>
                  <a:pt x="5593080" y="0"/>
                </a:lnTo>
                <a:lnTo>
                  <a:pt x="5593080" y="6091430"/>
                </a:lnTo>
                <a:lnTo>
                  <a:pt x="51327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7475369" y="5711409"/>
            <a:ext cx="4592320" cy="1014730"/>
          </a:xfrm>
          <a:prstGeom prst="rect">
            <a:avLst/>
          </a:prstGeom>
          <a:noFill/>
          <a:ln w="3175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GB" altLang="zh-TW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Thank </a:t>
            </a:r>
            <a:r>
              <a:rPr kumimoji="0" lang="en-GB" altLang="zh-TW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You</a:t>
            </a:r>
            <a:endParaRPr kumimoji="0" lang="zh-TW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38100">
          <a:noFill/>
        </a:ln>
      </a:spPr>
      <a:bodyPr rtlCol="0" anchor="ctr"/>
      <a:lstStyle>
        <a:defPPr>
          <a:defRPr dirty="0">
            <a:solidFill>
              <a:sysClr val="windowText" lastClr="000000"/>
            </a:solidFill>
            <a:latin typeface="Microsoft JhengHei" panose="020B0604030504040204" pitchFamily="34" charset="-120"/>
            <a:ea typeface="Microsoft JhengHei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3175">
          <a:solidFill>
            <a:schemeClr val="bg1">
              <a:lumMod val="50000"/>
            </a:schemeClr>
          </a:solidFill>
        </a:ln>
      </a:spPr>
      <a:bodyPr wrap="square" rtlCol="0">
        <a:sp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bg1">
                <a:lumMod val="50000"/>
              </a:schemeClr>
            </a:solidFill>
            <a:effectLst/>
            <a:uLnTx/>
            <a:uFillTx/>
            <a:latin typeface="DengXian" panose="02010600030101010101" pitchFamily="2" charset="-122"/>
            <a:ea typeface="DengXian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15259</TotalTime>
  <Words>1266</Words>
  <Application>Microsoft Office PowerPoint</Application>
  <PresentationFormat>寬螢幕</PresentationFormat>
  <Paragraphs>329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6" baseType="lpstr">
      <vt:lpstr>Amasis MT Pro Black</vt:lpstr>
      <vt:lpstr>DengXian</vt:lpstr>
      <vt:lpstr>DengXian</vt:lpstr>
      <vt:lpstr>맑은 고딕</vt:lpstr>
      <vt:lpstr>SimSun</vt:lpstr>
      <vt:lpstr>Microsoft JhengHei</vt:lpstr>
      <vt:lpstr>Microsoft JhengHei</vt:lpstr>
      <vt:lpstr>新細明體</vt:lpstr>
      <vt:lpstr>Arial</vt:lpstr>
      <vt:lpstr>Arial Black</vt:lpstr>
      <vt:lpstr>Calibri</vt:lpstr>
      <vt:lpstr>Calibri Light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King Chao(趙啟銘_PSZ)</dc:creator>
  <cp:lastModifiedBy>Albert Chao(趙宥祈_PVN)</cp:lastModifiedBy>
  <cp:revision>837</cp:revision>
  <dcterms:created xsi:type="dcterms:W3CDTF">2021-03-09T11:56:00Z</dcterms:created>
  <dcterms:modified xsi:type="dcterms:W3CDTF">2026-03-18T07:13:57Z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  <property fmtid="{D5CDD505-2E9C-101B-9397-08002B2CF9AE}" pid="3" name="ContentTypeId">
    <vt:lpwstr>0x010100991A3A7B58DE6F478F051059C55FE93E</vt:lpwstr>
  </property>
</Properties>
</file>